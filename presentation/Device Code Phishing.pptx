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95573"/>
            <a:ext cx="48482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089945"/>
            <a:ext cx="9048750" cy="12723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467475"/>
            <a:ext cx="18097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CS50 Cybersecurity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7575" y="6467475"/>
            <a:ext cx="5334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971823"/>
            <a:ext cx="9501187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sz="4350" b="1" i="0" u="none">
                <a:solidFill>
                  <a:srgbClr val="F8FAFC"/>
                </a:solidFill>
                <a:latin typeface="Space Grotesk"/>
              </a:rPr>
              <a:t>Device Code Phishing:</a:t>
            </a:r>
            <a:r>
              <a:t>
</a:t>
            </a:r>
            <a:r>
              <a:rPr sz="4350" b="1" i="0" u="none">
                <a:solidFill>
                  <a:srgbClr val="F43F5E"/>
                </a:solidFill>
                <a:latin typeface="Space Grotesk"/>
              </a:rPr>
              <a:t>When MFA Is Not Enough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432720"/>
            <a:ext cx="90487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"/>
              </a:rPr>
              <a:t>Exploiting OAuth 2.0 RFC 8628 Device Authorization Grant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581298"/>
            <a:ext cx="133350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6300" y="4337595"/>
            <a:ext cx="1872257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Presenter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588966"/>
            <a:ext cx="187225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F8FAFC"/>
                </a:solidFill>
                <a:latin typeface="Inter"/>
              </a:rPr>
              <a:t>Seyed Mehdi Sahafi Najafi Nejad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9582" y="4337595"/>
            <a:ext cx="2890242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Platform Identifiers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9582" y="4588966"/>
            <a:ext cx="2890242" cy="457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F8FAFC"/>
                </a:solidFill>
                <a:latin typeface="Inter"/>
              </a:rPr>
              <a:t>edX: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seyyedmahdi-j2d0a3e | </a:t>
            </a:r>
            <a:r>
              <a:rPr sz="1050" b="1" i="0" u="none">
                <a:solidFill>
                  <a:srgbClr val="F8FAFC"/>
                </a:solidFill>
                <a:latin typeface="Inter"/>
              </a:rPr>
              <a:t>GitHub: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seyyedmahdinajafi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0850" y="4337595"/>
            <a:ext cx="253365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0850" y="4588966"/>
            <a:ext cx="2533650" cy="457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F8FAFC"/>
                </a:solidFill>
                <a:latin typeface="Inter"/>
              </a:rPr>
              <a:t>Incident: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March 2026 | </a:t>
            </a:r>
            <a:r>
              <a:rPr sz="1050" b="1" i="0" u="none">
                <a:solidFill>
                  <a:srgbClr val="F8FAFC"/>
                </a:solidFill>
                <a:latin typeface="Inter"/>
              </a:rPr>
              <a:t>Recorded: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237" y="1902321"/>
            <a:ext cx="22955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5002" y="2378571"/>
            <a:ext cx="596199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Space Grotesk"/>
              </a:rPr>
              <a:t>Understanding RFC 8628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197721"/>
            <a:ext cx="7620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The OAuth 2.0 Device Authorization Grant specification designed for browserless and input-constrained environments.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0" y="4153792"/>
            <a:ext cx="11430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62250" y="4468117"/>
            <a:ext cx="66675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Originally built to enable Smart TVs, IoT hardware, and CLI tools (e.g., Azure CLI) to obtain authorization using a secondary device with full browser capabilities.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6467475"/>
            <a:ext cx="122872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RFC 8628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58525" y="6467475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2 / 11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1112" y="1988046"/>
            <a:ext cx="1619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92858"/>
            <a:ext cx="5324475" cy="28438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92858"/>
            <a:ext cx="5324475" cy="28438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467475"/>
            <a:ext cx="12954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Protocol Abuse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58525" y="6467475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3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145333"/>
            <a:ext cx="46386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User-Initiated: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The user requests authentication from a Smart TV or terminal tool (e.g., az login).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75769"/>
            <a:ext cx="46386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Secondary Auth: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User receives a 9-character code and completes login on their smartphone or PC browser.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406205"/>
            <a:ext cx="46386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Expected Access: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Tokens are returned directly to the initiating legitimate device for session setup.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45333"/>
            <a:ext cx="46386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Attacker-Initiated: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Threat actor executes background POST request to generate a device code pair.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775769"/>
            <a:ext cx="46386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Social Engineering: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Victim is tricked into visiting official login.microsoft.com/devicelogin and entering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406205"/>
            <a:ext cx="46386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Token Interception: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Upon victim completion, tokens drop straight into the attacker's polling terminal.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754808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47775" y="2735758"/>
            <a:ext cx="26348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0B981"/>
                </a:solidFill>
                <a:latin typeface="Space Grotesk"/>
              </a:rPr>
              <a:t>Legitimate RFC 8628 Flow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2754808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53250" y="2735758"/>
            <a:ext cx="354419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43F5E"/>
                </a:solidFill>
                <a:latin typeface="Space Grotesk"/>
              </a:rPr>
              <a:t>Weaponized Device Code Phishing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Standard Flow vs Weaponized Threat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923925"/>
            <a:ext cx="4862217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948136"/>
            <a:ext cx="342900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819" y="2948136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588" y="2948136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4357" y="2948136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2700486"/>
            <a:ext cx="2426493" cy="222855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8794" y="2700486"/>
            <a:ext cx="2426493" cy="222855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6563" y="2700486"/>
            <a:ext cx="2426493" cy="22285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4332" y="2700486"/>
            <a:ext cx="2426493" cy="2228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6467475"/>
            <a:ext cx="876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Attack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67475"/>
            <a:ext cx="56197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4 / 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2025" y="3800475"/>
            <a:ext cx="1026795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050" y="3433911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Code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748236"/>
            <a:ext cx="2026443" cy="7560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Attacker sends POST to IdP endpoint using public client IDs (Office/Azure CLI) to request user_code &amp; device_code.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819" y="3433911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Lure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819" y="3748236"/>
            <a:ext cx="2026443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Phishing message (email/Teams) tricks victim into approving access with the provided code on real IdP URL.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588" y="3433911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Victim Auth + MFA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588" y="3748236"/>
            <a:ext cx="2026443" cy="93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Victim authenticates on legitimate Microsoft domain and completes standard MFA prompt. Zero fake domains involved.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4357" y="3433911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Token Exfiltration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4357" y="3748236"/>
            <a:ext cx="2026443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Attacker's daemon receives Access &amp; Refresh tokens, hijacking session without ever capturing a password.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Anatomy of a Device Code Attack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923925"/>
            <a:ext cx="5441746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28887"/>
            <a:ext cx="3517850" cy="2571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528887"/>
            <a:ext cx="3517850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528887"/>
            <a:ext cx="3517850" cy="2571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46747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Security Control Bypass Mechanisms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8525" y="6467475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5 / 11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824162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3586162"/>
            <a:ext cx="2014314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Space Grotesk"/>
              </a:rPr>
              <a:t>100% Genuine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948112"/>
            <a:ext cx="29273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94A3B8"/>
                </a:solidFill>
                <a:latin typeface="Inter"/>
              </a:rPr>
              <a:t>Victims type their credentials directly into </a:t>
            </a:r>
            <a:r>
              <a:rPr sz="1125" b="1" i="0" u="none" dirty="0">
                <a:solidFill>
                  <a:srgbClr val="F8FAFC"/>
                </a:solidFill>
                <a:latin typeface="Inter"/>
              </a:rPr>
              <a:t>login.microsoft.com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. Secure Web Gateways and domain reputation filters see clean, trusted traffic.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2275" y="2824162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32275" y="3586162"/>
            <a:ext cx="171630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dirty="0">
                <a:solidFill>
                  <a:srgbClr val="F8FAFC"/>
                </a:solidFill>
                <a:latin typeface="Space Grotesk"/>
              </a:rPr>
              <a:t>MFA </a:t>
            </a:r>
            <a:r>
              <a:rPr lang="en-US" sz="1500" b="1" dirty="0">
                <a:solidFill>
                  <a:srgbClr val="F8FAFC"/>
                </a:solidFill>
                <a:latin typeface="Space Grotesk"/>
              </a:rPr>
              <a:t>Completion</a:t>
            </a:r>
            <a:endParaRPr sz="1500" b="1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2275" y="3948112"/>
            <a:ext cx="29273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25" dirty="0">
                <a:solidFill>
                  <a:srgbClr val="94A3B8"/>
                </a:solidFill>
                <a:latin typeface="Inter"/>
              </a:rPr>
              <a:t>The victim completes legitimate MFA for the attacker-initiated authentication request.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8250" y="2824162"/>
            <a:ext cx="571500" cy="571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88250" y="3586162"/>
            <a:ext cx="192430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Space Grotesk"/>
              </a:rPr>
              <a:t>No Passwords Stolen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8250" y="3948112"/>
            <a:ext cx="29273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Skip credential harvesting entirely. The threat actor obtains OAuth Access &amp; Refresh tokens directly via standard token endpoint polling.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2957512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7525" y="2957512"/>
            <a:ext cx="3810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1600" y="2957512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Why Traditional MFA Fails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923925"/>
            <a:ext cx="6714972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6467475"/>
            <a:ext cx="176212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Case Study &amp; Threat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58525" y="6467475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6 / 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9650" y="2230338"/>
            <a:ext cx="48958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EvilTokens Automation: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Surge of automated PhaaS toolkits leveraging RFC 8628 to bypass FIDO2 MFA en masse.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2957810"/>
            <a:ext cx="48958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First-Party Client Abuse: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Exploited immutable public Microsoft client IDs (Azure CLI, PowerShell) impossible to revoke globally.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685282"/>
            <a:ext cx="48958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Persistent Access: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Requested offline_access scope, yielding refresh tokens that survived password resets and basic session revocations.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4671714"/>
            <a:ext cx="4895850" cy="1004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39"/>
              </a:lnSpc>
            </a:pPr>
            <a:r>
              <a:rPr lang="en-US" sz="1275" b="1" dirty="0">
                <a:solidFill>
                  <a:srgbClr val="F8FAFC"/>
                </a:solidFill>
                <a:latin typeface="Inter"/>
              </a:rPr>
              <a:t>Limited Traditional Detection:</a:t>
            </a:r>
            <a:br>
              <a:rPr lang="en-US" sz="1400" dirty="0"/>
            </a:br>
            <a:r>
              <a:rPr lang="en-US" sz="1275" dirty="0">
                <a:solidFill>
                  <a:srgbClr val="94A3B8"/>
                </a:solidFill>
                <a:latin typeface="Inter"/>
              </a:rPr>
              <a:t>Because authentication occurs through legitimate identity infrastructure, traditional malware and domain-based detection may have limited visibility.</a:t>
            </a:r>
            <a:endParaRPr sz="1275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244625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2972097"/>
            <a:ext cx="209550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699569"/>
            <a:ext cx="209550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4686002"/>
            <a:ext cx="266700" cy="219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Incident Analysis: March 2026 Breach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923925"/>
            <a:ext cx="475207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57300"/>
            <a:ext cx="11029950" cy="5114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509194"/>
            <a:ext cx="110299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1" u="none" dirty="0">
                <a:solidFill>
                  <a:srgbClr val="CBD5E1"/>
                </a:solidFill>
                <a:latin typeface="Inter"/>
              </a:rPr>
              <a:t>Data indicates a 310% increase in OAuth Device Code Phishing across enterprise tenants between 2024 and 2026, driven by strict MFA enforcement neutralizing legacy phishing kits.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6467475"/>
            <a:ext cx="141922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Threat Landscape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58525" y="6467475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7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Identity Attack Vector Trends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923925"/>
            <a:ext cx="6123384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1025" y="2319486"/>
            <a:ext cx="11029950" cy="2990552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319486"/>
          <a:ext cx="11020422" cy="2990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1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3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11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8BDF8"/>
                          </a:solidFill>
                          <a:latin typeface="Space Grotesk"/>
                        </a:rPr>
                        <a:t>Vector Attribute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Traditional Phishing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AiTM Proxy (Evilginx)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Device Code Phishing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1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Domain Hosted 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Spoofed / Typosquatted 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Reverse Proxy Domain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0B981"/>
                          </a:solidFill>
                          <a:latin typeface="Inter"/>
                        </a:rPr>
                        <a:t>Official login.microsoft.com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1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94A3B8"/>
                          </a:solidFill>
                          <a:latin typeface="Inter"/>
                        </a:rPr>
                        <a:t>Captures Password?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Inter"/>
                        </a:rPr>
                        <a:t>No (Token Theft Only)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1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94A3B8"/>
                          </a:solidFill>
                          <a:latin typeface="Inter"/>
                        </a:rPr>
                        <a:t>Bypasses MFA?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Yes (Pass-through)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Detection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Low (Easy to block)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Medium (Domain flags)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43F5E"/>
                          </a:solidFill>
                          <a:latin typeface="Inter"/>
                        </a:rPr>
                        <a:t>Extremely Difficult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1025" y="6467475"/>
            <a:ext cx="17335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Comparative Technical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58525" y="6467475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8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787" y="2910929"/>
            <a:ext cx="23956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81473" y="2910929"/>
            <a:ext cx="30213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2833" y="2910929"/>
            <a:ext cx="264363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46467" y="2910929"/>
            <a:ext cx="29597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787" y="3507134"/>
            <a:ext cx="23956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81473" y="3507134"/>
            <a:ext cx="30213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02833" y="3507134"/>
            <a:ext cx="264363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46467" y="3507134"/>
            <a:ext cx="29597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5787" y="4103340"/>
            <a:ext cx="23956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81473" y="4103340"/>
            <a:ext cx="30213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02833" y="4103340"/>
            <a:ext cx="264363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46467" y="4103340"/>
            <a:ext cx="29597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787" y="4699545"/>
            <a:ext cx="23956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81473" y="4699545"/>
            <a:ext cx="30213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02833" y="4699545"/>
            <a:ext cx="264363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46467" y="4699545"/>
            <a:ext cx="29597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073" y="4327177"/>
            <a:ext cx="1143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5067" y="4327177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1433" y="4327177"/>
            <a:ext cx="1333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073" y="4327177"/>
            <a:ext cx="1143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1433" y="4327177"/>
            <a:ext cx="1333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5067" y="4327177"/>
            <a:ext cx="133350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Attack Vector Comparison Matrix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1025" y="923925"/>
            <a:ext cx="5517946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52576"/>
            <a:ext cx="3048000" cy="2124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525" y="4145160"/>
            <a:ext cx="7410450" cy="838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467475"/>
            <a:ext cx="9906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Evasion 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58525" y="6467475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9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143101"/>
            <a:ext cx="22669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F43F5E"/>
                </a:solidFill>
                <a:latin typeface="Space Grotesk"/>
              </a:rP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4286101"/>
            <a:ext cx="22669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Inter SemiBold"/>
              </a:rPr>
              <a:t>Malicious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525" y="2646015"/>
            <a:ext cx="778097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Zero Malicious Artifacts to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0525" y="3131790"/>
            <a:ext cx="7410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Because the attacker relies entirely on Microsoft's native authorization endpoints, traditional email gateways, DNS inspection, and endpoint detection agents detect </a:t>
            </a:r>
            <a:r>
              <a:rPr sz="1350" b="1" i="0" u="none">
                <a:solidFill>
                  <a:srgbClr val="F8FAFC"/>
                </a:solidFill>
                <a:latin typeface="Inter"/>
              </a:rPr>
              <a:t>zero malicious links, binaries, or reverse proxy servers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125" y="4335660"/>
            <a:ext cx="6991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"The ultimate stealth attack: forcing the victim to act as their own proxy directly on official identity infrastructure."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Critical Severity Driver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923925"/>
            <a:ext cx="7203433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6467475"/>
            <a:ext cx="12192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Remediation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1375" y="6467475"/>
            <a:ext cx="6096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2489299"/>
            <a:ext cx="106013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Conditional Access Policies (CAP):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Explicitly block Device Code Flow in Entra ID / Okta for all non-administrative users or unmanaged devices.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3216771"/>
            <a:ext cx="1060132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Restrict OAuth App Consent: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Disable user consent for apps requiring offline_access or high-privilege directory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3685282"/>
            <a:ext cx="106013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Anomalous Token Monitoring: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Query sign-in logs for non-interactive token refreshes originating from unexpected ASNs or impossible travel 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4412753"/>
            <a:ext cx="106013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User Security Training: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Educate staff that device code prompts should </a:t>
            </a:r>
            <a:r>
              <a:rPr sz="1275" b="0" i="1" u="none">
                <a:solidFill>
                  <a:srgbClr val="94A3B8"/>
                </a:solidFill>
                <a:latin typeface="Inter"/>
              </a:rPr>
              <a:t>never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be entered unless actively initiating a login on a secondary device.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503586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31058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699569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427041"/>
            <a:ext cx="26670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Defense &amp; Mitigation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923925"/>
            <a:ext cx="5951934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440358"/>
            <a:ext cx="24384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75" y="3509069"/>
            <a:ext cx="6191250" cy="19085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315075"/>
            <a:ext cx="11029950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24701" y="1916608"/>
            <a:ext cx="3342449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Space Grotesk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475" y="2840533"/>
            <a:ext cx="4591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Thank you for reviewing this final presentation.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6467475"/>
            <a:ext cx="18097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CS50 Cybersecurity Final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9950" y="6467475"/>
            <a:ext cx="58102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11 / 11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675" y="1526083"/>
            <a:ext cx="133350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90900" y="3804344"/>
            <a:ext cx="54102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CS50's Introduction to Cybersecurity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900" y="4124325"/>
            <a:ext cx="5410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Final Project Submission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4495800"/>
            <a:ext cx="5410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0900" y="4648200"/>
            <a:ext cx="5410200" cy="21327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 GitHub: seyyedmahdinajafi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0900" y="4909095"/>
            <a:ext cx="5410200" cy="21327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edX: seyyedmahdi-j2d0a3e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7569" y="4686300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4174" y="4947195"/>
            <a:ext cx="1714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76488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6400" y="3569940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 dirty="0">
                <a:solidFill>
                  <a:srgbClr val="94A3B8"/>
                </a:solidFill>
                <a:latin typeface="Inter"/>
              </a:rPr>
              <a:t>https://www.simplydata.com.my/wp-content/uploads/2026/05/ai-threat-hunting-dashboard-2026-05-23.png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3815655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Inter"/>
              </a:rPr>
              <a:t>www.simplydata.com.my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Space Grotesk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923925"/>
            <a:ext cx="840446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858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Seyyed Mahdi Sahafi Najafi Nejad</cp:lastModifiedBy>
  <cp:revision>2</cp:revision>
  <dcterms:created xsi:type="dcterms:W3CDTF">2013-01-27T09:14:16Z</dcterms:created>
  <dcterms:modified xsi:type="dcterms:W3CDTF">2026-08-09T13:46:35Z</dcterms:modified>
  <cp:category/>
</cp:coreProperties>
</file>